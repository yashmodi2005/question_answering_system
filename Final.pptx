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788" y="2229510"/>
            <a:ext cx="5404485" cy="6825615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000" b="1">
                <a:latin typeface="Times New Roman"/>
                <a:cs typeface="Times New Roman"/>
              </a:rPr>
              <a:t>Faculty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Computer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Applications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Information</a:t>
            </a:r>
            <a:endParaRPr sz="2000">
              <a:latin typeface="Times New Roman"/>
              <a:cs typeface="Times New Roman"/>
            </a:endParaRPr>
          </a:p>
          <a:p>
            <a:pPr algn="ctr" marR="450215">
              <a:lnSpc>
                <a:spcPct val="100000"/>
              </a:lnSpc>
              <a:spcBef>
                <a:spcPts val="1235"/>
              </a:spcBef>
            </a:pPr>
            <a:r>
              <a:rPr dirty="0" sz="2000" spc="-10" b="1"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  <a:spcBef>
                <a:spcPts val="1365"/>
              </a:spcBef>
            </a:pPr>
            <a:r>
              <a:rPr dirty="0" sz="1550" b="1">
                <a:latin typeface="Times New Roman"/>
                <a:cs typeface="Times New Roman"/>
              </a:rPr>
              <a:t>iMSc.IT</a:t>
            </a:r>
            <a:r>
              <a:rPr dirty="0" sz="1550" spc="16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Programme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550">
              <a:latin typeface="Times New Roman"/>
              <a:cs typeface="Times New Roman"/>
            </a:endParaRPr>
          </a:p>
          <a:p>
            <a:pPr marL="1536065">
              <a:lnSpc>
                <a:spcPct val="100000"/>
              </a:lnSpc>
            </a:pPr>
            <a:r>
              <a:rPr dirty="0" sz="1550" b="1">
                <a:latin typeface="Times New Roman"/>
                <a:cs typeface="Times New Roman"/>
              </a:rPr>
              <a:t>Semester</a:t>
            </a:r>
            <a:r>
              <a:rPr dirty="0" sz="1550" spc="180" b="1">
                <a:latin typeface="Times New Roman"/>
                <a:cs typeface="Times New Roman"/>
              </a:rPr>
              <a:t> </a:t>
            </a:r>
            <a:r>
              <a:rPr dirty="0" sz="1550" spc="-20" b="1">
                <a:latin typeface="Times New Roman"/>
                <a:cs typeface="Times New Roman"/>
              </a:rPr>
              <a:t>VIII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550">
              <a:latin typeface="Times New Roman"/>
              <a:cs typeface="Times New Roman"/>
            </a:endParaRPr>
          </a:p>
          <a:p>
            <a:pPr marL="1544955">
              <a:lnSpc>
                <a:spcPct val="100000"/>
              </a:lnSpc>
            </a:pPr>
            <a:r>
              <a:rPr dirty="0" sz="1400" b="1">
                <a:latin typeface="Cambria"/>
                <a:cs typeface="Cambria"/>
              </a:rPr>
              <a:t>Project</a:t>
            </a:r>
            <a:r>
              <a:rPr dirty="0" sz="1400" spc="-50" b="1">
                <a:latin typeface="Cambria"/>
                <a:cs typeface="Cambria"/>
              </a:rPr>
              <a:t> </a:t>
            </a:r>
            <a:r>
              <a:rPr dirty="0" sz="1400" b="1">
                <a:latin typeface="Cambria"/>
                <a:cs typeface="Cambria"/>
              </a:rPr>
              <a:t>Report</a:t>
            </a:r>
            <a:r>
              <a:rPr dirty="0" sz="1400" spc="-15" b="1">
                <a:latin typeface="Cambria"/>
                <a:cs typeface="Cambria"/>
              </a:rPr>
              <a:t> </a:t>
            </a:r>
            <a:r>
              <a:rPr dirty="0" sz="1400" spc="-25" b="1">
                <a:latin typeface="Cambria"/>
                <a:cs typeface="Cambria"/>
              </a:rPr>
              <a:t>for</a:t>
            </a:r>
            <a:endParaRPr sz="1400">
              <a:latin typeface="Cambria"/>
              <a:cs typeface="Cambria"/>
            </a:endParaRPr>
          </a:p>
          <a:p>
            <a:pPr algn="ctr" marL="438150" marR="782955">
              <a:lnSpc>
                <a:spcPts val="3390"/>
              </a:lnSpc>
              <a:spcBef>
                <a:spcPts val="250"/>
              </a:spcBef>
            </a:pPr>
            <a:r>
              <a:rPr dirty="0" sz="1800" b="1">
                <a:latin typeface="Times New Roman"/>
                <a:cs typeface="Times New Roman"/>
              </a:rPr>
              <a:t>221601804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Advanced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Machine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Learning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&amp; </a:t>
            </a:r>
            <a:r>
              <a:rPr dirty="0" sz="1800" b="1">
                <a:latin typeface="Times New Roman"/>
                <a:cs typeface="Times New Roman"/>
              </a:rPr>
              <a:t>Deep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algn="ctr" marR="295275">
              <a:lnSpc>
                <a:spcPct val="100000"/>
              </a:lnSpc>
              <a:spcBef>
                <a:spcPts val="940"/>
              </a:spcBef>
            </a:pPr>
            <a:r>
              <a:rPr dirty="0" sz="1550" i="1">
                <a:latin typeface="Times New Roman"/>
                <a:cs typeface="Times New Roman"/>
              </a:rPr>
              <a:t>“Question</a:t>
            </a:r>
            <a:r>
              <a:rPr dirty="0" sz="1550" spc="185" i="1">
                <a:latin typeface="Times New Roman"/>
                <a:cs typeface="Times New Roman"/>
              </a:rPr>
              <a:t> </a:t>
            </a:r>
            <a:r>
              <a:rPr dirty="0" sz="1550" i="1">
                <a:latin typeface="Times New Roman"/>
                <a:cs typeface="Times New Roman"/>
              </a:rPr>
              <a:t>Answering</a:t>
            </a:r>
            <a:r>
              <a:rPr dirty="0" sz="1550" spc="185" i="1">
                <a:latin typeface="Times New Roman"/>
                <a:cs typeface="Times New Roman"/>
              </a:rPr>
              <a:t> </a:t>
            </a:r>
            <a:r>
              <a:rPr dirty="0" sz="1550" spc="-10" i="1">
                <a:latin typeface="Times New Roman"/>
                <a:cs typeface="Times New Roman"/>
              </a:rPr>
              <a:t>System”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1686560" marR="2033270">
              <a:lnSpc>
                <a:spcPct val="110400"/>
              </a:lnSpc>
            </a:pPr>
            <a:r>
              <a:rPr dirty="0" sz="1400" b="1">
                <a:latin typeface="Times New Roman"/>
                <a:cs typeface="Times New Roman"/>
              </a:rPr>
              <a:t>Under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guidance</a:t>
            </a:r>
            <a:r>
              <a:rPr dirty="0" sz="1400" spc="-25" b="1">
                <a:latin typeface="Times New Roman"/>
                <a:cs typeface="Times New Roman"/>
              </a:rPr>
              <a:t> of </a:t>
            </a:r>
            <a:r>
              <a:rPr dirty="0" sz="1400" b="1">
                <a:latin typeface="Times New Roman"/>
                <a:cs typeface="Times New Roman"/>
              </a:rPr>
              <a:t>Dr.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Purna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Tanna </a:t>
            </a:r>
            <a:r>
              <a:rPr dirty="0" sz="1400" spc="-10" b="1">
                <a:latin typeface="Times New Roman"/>
                <a:cs typeface="Times New Roman"/>
              </a:rPr>
              <a:t>FCAIT</a:t>
            </a:r>
            <a:endParaRPr sz="1400">
              <a:latin typeface="Times New Roman"/>
              <a:cs typeface="Times New Roman"/>
            </a:endParaRPr>
          </a:p>
          <a:p>
            <a:pPr algn="ctr" marR="349885">
              <a:lnSpc>
                <a:spcPct val="100000"/>
              </a:lnSpc>
              <a:spcBef>
                <a:spcPts val="195"/>
              </a:spcBef>
            </a:pPr>
            <a:r>
              <a:rPr dirty="0" sz="1400" spc="-10" b="1">
                <a:latin typeface="Times New Roman"/>
                <a:cs typeface="Times New Roman"/>
              </a:rPr>
              <a:t>Ahmedabad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350520">
              <a:lnSpc>
                <a:spcPct val="100000"/>
              </a:lnSpc>
            </a:pP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Submitted</a:t>
            </a:r>
            <a:r>
              <a:rPr dirty="0" u="sng" sz="1400" spc="-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  <a:p>
            <a:pPr algn="ctr" marL="1156335" marR="1494790">
              <a:lnSpc>
                <a:spcPct val="109400"/>
              </a:lnSpc>
              <a:spcBef>
                <a:spcPts val="1005"/>
              </a:spcBef>
            </a:pPr>
            <a:r>
              <a:rPr dirty="0" sz="1400">
                <a:latin typeface="Times New Roman"/>
                <a:cs typeface="Times New Roman"/>
              </a:rPr>
              <a:t>Yash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Utpal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 -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202201619010159 </a:t>
            </a:r>
            <a:r>
              <a:rPr dirty="0" sz="1400">
                <a:latin typeface="Times New Roman"/>
                <a:cs typeface="Times New Roman"/>
              </a:rPr>
              <a:t>Nitya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Utpal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202201619010046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301" y="800100"/>
            <a:ext cx="4430613" cy="12344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69516" y="1162938"/>
            <a:ext cx="4823460" cy="866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35"/>
              </a:spcBef>
            </a:pPr>
            <a:r>
              <a:rPr dirty="0" sz="1550" b="1">
                <a:latin typeface="Times New Roman"/>
                <a:cs typeface="Times New Roman"/>
              </a:rPr>
              <a:t>GLS</a:t>
            </a:r>
            <a:r>
              <a:rPr dirty="0" sz="1550" spc="5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UNIVERSITY</a:t>
            </a:r>
            <a:endParaRPr sz="1550">
              <a:latin typeface="Times New Roman"/>
              <a:cs typeface="Times New Roman"/>
            </a:endParaRPr>
          </a:p>
          <a:p>
            <a:pPr algn="ctr" marL="12065" marR="5080">
              <a:lnSpc>
                <a:spcPct val="109300"/>
              </a:lnSpc>
              <a:spcBef>
                <a:spcPts val="1050"/>
              </a:spcBef>
            </a:pPr>
            <a:r>
              <a:rPr dirty="0" sz="1400" b="1">
                <a:latin typeface="Times New Roman"/>
                <a:cs typeface="Times New Roman"/>
              </a:rPr>
              <a:t>Faculty 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Computer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Applications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IT,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iMSc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(IT)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Programme Ahmedabad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79750" y="2846323"/>
            <a:ext cx="1609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CERTIFICATE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309" y="3763721"/>
            <a:ext cx="5969635" cy="1434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4799"/>
              </a:lnSpc>
              <a:spcBef>
                <a:spcPts val="90"/>
              </a:spcBef>
            </a:pP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certify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Yash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Utpal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Modi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Nitya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Utpal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Modi,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Semester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VIII,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iMSc </a:t>
            </a:r>
            <a:r>
              <a:rPr dirty="0" sz="1150">
                <a:latin typeface="Times New Roman"/>
                <a:cs typeface="Times New Roman"/>
              </a:rPr>
              <a:t>(IT)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(FoY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iMSc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(IT)),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FCAIT,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GLS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University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have</a:t>
            </a:r>
            <a:r>
              <a:rPr dirty="0" sz="1150" spc="4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successfully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completed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Advanced </a:t>
            </a:r>
            <a:r>
              <a:rPr dirty="0" sz="1150">
                <a:latin typeface="Times New Roman"/>
                <a:cs typeface="Times New Roman"/>
              </a:rPr>
              <a:t>Machine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Learning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&amp;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Deep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Learning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Project,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including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detailed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architecture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design, </a:t>
            </a:r>
            <a:r>
              <a:rPr dirty="0" sz="1150">
                <a:latin typeface="Times New Roman"/>
                <a:cs typeface="Times New Roman"/>
              </a:rPr>
              <a:t>advanced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retrieval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logic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implementation,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comprehensive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testing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"AI-</a:t>
            </a:r>
            <a:r>
              <a:rPr dirty="0" sz="1150" spc="-10">
                <a:latin typeface="Times New Roman"/>
                <a:cs typeface="Times New Roman"/>
              </a:rPr>
              <a:t>Powered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Answering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System"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partial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fulfilment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Fourth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year </a:t>
            </a:r>
            <a:r>
              <a:rPr dirty="0" sz="1150">
                <a:latin typeface="Times New Roman"/>
                <a:cs typeface="Times New Roman"/>
              </a:rPr>
              <a:t>Semester-VIII,</a:t>
            </a:r>
            <a:r>
              <a:rPr dirty="0" sz="1150" spc="4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Integrated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Master</a:t>
            </a:r>
            <a:r>
              <a:rPr dirty="0" sz="1150" spc="4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Science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(IT)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[iMSc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(IT)].</a:t>
            </a:r>
            <a:r>
              <a:rPr dirty="0" sz="1150" spc="4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retrieval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augmented </a:t>
            </a:r>
            <a:r>
              <a:rPr dirty="0" sz="1150">
                <a:latin typeface="Times New Roman"/>
                <a:cs typeface="Times New Roman"/>
              </a:rPr>
              <a:t>generation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(RAG)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low-latency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indices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documented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herein.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309" y="5988558"/>
            <a:ext cx="255968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546350" algn="l"/>
              </a:tabLst>
            </a:pPr>
            <a:r>
              <a:rPr dirty="0" sz="1150">
                <a:latin typeface="Times New Roman"/>
                <a:cs typeface="Times New Roman"/>
              </a:rPr>
              <a:t>Date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 Submission: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2309" y="6778193"/>
            <a:ext cx="114236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0"/>
              </a:spcBef>
            </a:pPr>
            <a:r>
              <a:rPr dirty="0" sz="1150" b="1">
                <a:latin typeface="Times New Roman"/>
                <a:cs typeface="Times New Roman"/>
              </a:rPr>
              <a:t>Dr.</a:t>
            </a:r>
            <a:r>
              <a:rPr dirty="0" sz="1150" spc="55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Purna</a:t>
            </a:r>
            <a:r>
              <a:rPr dirty="0" sz="1150" spc="95" b="1">
                <a:latin typeface="Times New Roman"/>
                <a:cs typeface="Times New Roman"/>
              </a:rPr>
              <a:t> </a:t>
            </a:r>
            <a:r>
              <a:rPr dirty="0" sz="1150" spc="-20" b="1">
                <a:latin typeface="Times New Roman"/>
                <a:cs typeface="Times New Roman"/>
              </a:rPr>
              <a:t>Tanna </a:t>
            </a:r>
            <a:r>
              <a:rPr dirty="0" sz="1150" b="1">
                <a:latin typeface="Times New Roman"/>
                <a:cs typeface="Times New Roman"/>
              </a:rPr>
              <a:t>Project</a:t>
            </a:r>
            <a:r>
              <a:rPr dirty="0" sz="1150" spc="114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Guide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2505710" cy="782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Table</a:t>
            </a:r>
            <a:r>
              <a:rPr dirty="0" sz="1400" spc="-4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dirty="0" sz="1400" spc="-3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Contents</a:t>
            </a:r>
            <a:endParaRPr sz="140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Cover</a:t>
            </a:r>
            <a:r>
              <a:rPr dirty="0" sz="1150" spc="125" b="1">
                <a:latin typeface="Times New Roman"/>
                <a:cs typeface="Times New Roman"/>
              </a:rPr>
              <a:t> </a:t>
            </a:r>
            <a:r>
              <a:rPr dirty="0" sz="1150" spc="-20" b="1">
                <a:latin typeface="Times New Roman"/>
                <a:cs typeface="Times New Roman"/>
              </a:rPr>
              <a:t>Page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162560" algn="l"/>
              </a:tabLst>
            </a:pPr>
            <a:r>
              <a:rPr dirty="0" sz="1150" spc="-10" b="1">
                <a:latin typeface="Times New Roman"/>
                <a:cs typeface="Times New Roman"/>
              </a:rPr>
              <a:t>Certificate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Table</a:t>
            </a:r>
            <a:r>
              <a:rPr dirty="0" sz="1150" spc="60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of</a:t>
            </a:r>
            <a:r>
              <a:rPr dirty="0" sz="1150" spc="5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Contents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Problem</a:t>
            </a:r>
            <a:r>
              <a:rPr dirty="0" sz="1150" spc="114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Statement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Project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Overview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Objectives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Dataset</a:t>
            </a:r>
            <a:r>
              <a:rPr dirty="0" sz="1150" spc="10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Description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Dataset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Overview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Dataset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Specifications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Feature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Engineering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System</a:t>
            </a:r>
            <a:r>
              <a:rPr dirty="0" sz="1150" spc="105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Architecture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High-Level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Architecture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Processing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Pipeline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215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RAG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Inference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Engine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Screenshots</a:t>
            </a:r>
            <a:r>
              <a:rPr dirty="0" sz="1150" spc="75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of</a:t>
            </a:r>
            <a:r>
              <a:rPr dirty="0" sz="1150" spc="80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the</a:t>
            </a:r>
            <a:r>
              <a:rPr dirty="0" sz="1150" spc="135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Interface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Views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Admin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Management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Views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Results</a:t>
            </a:r>
            <a:r>
              <a:rPr dirty="0" sz="1150" spc="100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and</a:t>
            </a:r>
            <a:r>
              <a:rPr dirty="0" sz="1150" spc="8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Analysis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Performance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Metrics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Accuracy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Analysis</a:t>
            </a:r>
            <a:endParaRPr sz="1150">
              <a:latin typeface="Times New Roman"/>
              <a:cs typeface="Times New Roman"/>
            </a:endParaRPr>
          </a:p>
          <a:p>
            <a:pPr lvl="1" marL="162560" indent="-14986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162560" algn="l"/>
              </a:tabLst>
            </a:pPr>
            <a:r>
              <a:rPr dirty="0" sz="1150" b="1">
                <a:latin typeface="Times New Roman"/>
                <a:cs typeface="Times New Roman"/>
              </a:rPr>
              <a:t>Conclusion</a:t>
            </a:r>
            <a:r>
              <a:rPr dirty="0" sz="1150" spc="140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and</a:t>
            </a:r>
            <a:r>
              <a:rPr dirty="0" sz="1150" spc="95" b="1">
                <a:latin typeface="Times New Roman"/>
                <a:cs typeface="Times New Roman"/>
              </a:rPr>
              <a:t> </a:t>
            </a:r>
            <a:r>
              <a:rPr dirty="0" sz="1150" b="1">
                <a:latin typeface="Times New Roman"/>
                <a:cs typeface="Times New Roman"/>
              </a:rPr>
              <a:t>Future</a:t>
            </a:r>
            <a:r>
              <a:rPr dirty="0" sz="1150" spc="130" b="1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Times New Roman"/>
                <a:cs typeface="Times New Roman"/>
              </a:rPr>
              <a:t>Scope</a:t>
            </a:r>
            <a:endParaRPr sz="1150">
              <a:latin typeface="Times New Roman"/>
              <a:cs typeface="Times New Roman"/>
            </a:endParaRPr>
          </a:p>
          <a:p>
            <a:pPr lvl="2" marL="807085" indent="-227329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807085" algn="l"/>
              </a:tabLst>
            </a:pPr>
            <a:r>
              <a:rPr dirty="0" sz="1150">
                <a:latin typeface="Times New Roman"/>
                <a:cs typeface="Times New Roman"/>
              </a:rPr>
              <a:t>Conclusion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Summary</a:t>
            </a:r>
            <a:endParaRPr sz="1150">
              <a:latin typeface="Times New Roman"/>
              <a:cs typeface="Times New Roman"/>
            </a:endParaRPr>
          </a:p>
          <a:p>
            <a:pPr lvl="2" marL="811530" indent="-23177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811530" algn="l"/>
              </a:tabLst>
            </a:pPr>
            <a:r>
              <a:rPr dirty="0" sz="1150">
                <a:latin typeface="Times New Roman"/>
                <a:cs typeface="Times New Roman"/>
              </a:rPr>
              <a:t>Future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Roadmap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5967730" cy="38754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8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Project</a:t>
            </a:r>
            <a:r>
              <a:rPr dirty="0" sz="1150" spc="114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Overview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5300"/>
              </a:lnSpc>
              <a:spcBef>
                <a:spcPts val="1145"/>
              </a:spcBef>
            </a:pP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current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era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rapid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technological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advancement,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professionals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face </a:t>
            </a:r>
            <a:r>
              <a:rPr dirty="0" sz="1150">
                <a:latin typeface="Times New Roman"/>
                <a:cs typeface="Times New Roman"/>
              </a:rPr>
              <a:t>an</a:t>
            </a:r>
            <a:r>
              <a:rPr dirty="0" sz="1150" spc="114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overwhelming</a:t>
            </a:r>
            <a:r>
              <a:rPr dirty="0" sz="1150" spc="114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volume</a:t>
            </a:r>
            <a:r>
              <a:rPr dirty="0" sz="1150" spc="13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0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documentation,</a:t>
            </a:r>
            <a:r>
              <a:rPr dirty="0" sz="1150" spc="12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research</a:t>
            </a:r>
            <a:r>
              <a:rPr dirty="0" sz="1150" spc="11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papers,</a:t>
            </a:r>
            <a:r>
              <a:rPr dirty="0" sz="1150" spc="12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1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coding</a:t>
            </a:r>
            <a:r>
              <a:rPr dirty="0" sz="1150" spc="114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guides.</a:t>
            </a:r>
            <a:r>
              <a:rPr dirty="0" sz="1150" spc="120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Finding </a:t>
            </a:r>
            <a:r>
              <a:rPr dirty="0" sz="1150">
                <a:latin typeface="Times New Roman"/>
                <a:cs typeface="Times New Roman"/>
              </a:rPr>
              <a:t>accurate,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contextually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relevant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answers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complex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has</a:t>
            </a:r>
            <a:r>
              <a:rPr dirty="0" sz="1150" spc="3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become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increasingly </a:t>
            </a:r>
            <a:r>
              <a:rPr dirty="0" sz="1150">
                <a:latin typeface="Times New Roman"/>
                <a:cs typeface="Times New Roman"/>
              </a:rPr>
              <a:t>time-consuming.</a:t>
            </a:r>
            <a:r>
              <a:rPr dirty="0" sz="1150" spc="43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Standard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</a:t>
            </a:r>
            <a:r>
              <a:rPr dirty="0" sz="1150" spc="4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engines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often</a:t>
            </a:r>
            <a:r>
              <a:rPr dirty="0" sz="1150" spc="4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provide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generic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results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lack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depth </a:t>
            </a:r>
            <a:r>
              <a:rPr dirty="0" sz="1150">
                <a:latin typeface="Times New Roman"/>
                <a:cs typeface="Times New Roman"/>
              </a:rPr>
              <a:t>required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specialized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engineering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tasks.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problem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exacerbated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diverse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formats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terminologies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different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computer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science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domains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such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Artificial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Intelligence, </a:t>
            </a:r>
            <a:r>
              <a:rPr dirty="0" sz="1150">
                <a:latin typeface="Times New Roman"/>
                <a:cs typeface="Times New Roman"/>
              </a:rPr>
              <a:t>Operating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Systems,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Distributed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Computing.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buAutoNum type="arabicPeriod" startAt="2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Technical</a:t>
            </a:r>
            <a:r>
              <a:rPr dirty="0" sz="1150" spc="114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Objectives</a:t>
            </a:r>
            <a:endParaRPr sz="1150">
              <a:latin typeface="Times New Roman"/>
              <a:cs typeface="Times New Roman"/>
            </a:endParaRPr>
          </a:p>
          <a:p>
            <a:pPr algn="just" marL="12700" marR="6350">
              <a:lnSpc>
                <a:spcPct val="115399"/>
              </a:lnSpc>
              <a:spcBef>
                <a:spcPts val="1105"/>
              </a:spcBef>
            </a:pP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project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aims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solve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challenge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developing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sophisticated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AI-Powered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Technical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Answering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System.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Unlike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traditional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keyword-based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search,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leverages </a:t>
            </a:r>
            <a:r>
              <a:rPr dirty="0" sz="1150">
                <a:latin typeface="Times New Roman"/>
                <a:cs typeface="Times New Roman"/>
              </a:rPr>
              <a:t>Retrieval-Augmented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Generation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(RAG)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ensure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responses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not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only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historically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accurate </a:t>
            </a:r>
            <a:r>
              <a:rPr dirty="0" sz="1150">
                <a:latin typeface="Times New Roman"/>
                <a:cs typeface="Times New Roman"/>
              </a:rPr>
              <a:t>but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also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naturally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synthesized.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core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objective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achieve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sub-200ms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retrieval </a:t>
            </a:r>
            <a:r>
              <a:rPr dirty="0" sz="1150">
                <a:latin typeface="Times New Roman"/>
                <a:cs typeface="Times New Roman"/>
              </a:rPr>
              <a:t>latency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48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600,000+</a:t>
            </a:r>
            <a:r>
              <a:rPr dirty="0" sz="1150" spc="4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record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knowledge</a:t>
            </a:r>
            <a:r>
              <a:rPr dirty="0" sz="1150" spc="4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base</a:t>
            </a:r>
            <a:r>
              <a:rPr dirty="0" sz="1150" spc="4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while</a:t>
            </a:r>
            <a:r>
              <a:rPr dirty="0" sz="1150" spc="4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maintaining</a:t>
            </a:r>
            <a:r>
              <a:rPr dirty="0" sz="1150" spc="4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4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high</a:t>
            </a:r>
            <a:r>
              <a:rPr dirty="0" sz="1150" spc="105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confidence </a:t>
            </a:r>
            <a:r>
              <a:rPr dirty="0" sz="1150">
                <a:latin typeface="Times New Roman"/>
                <a:cs typeface="Times New Roman"/>
              </a:rPr>
              <a:t>threshold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LLM-generated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verification.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5965825" cy="1716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DATASET</a:t>
            </a:r>
            <a:r>
              <a:rPr dirty="0" sz="1400" spc="-7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Dataset</a:t>
            </a:r>
            <a:r>
              <a:rPr dirty="0" sz="1150" spc="9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Overview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4900"/>
              </a:lnSpc>
              <a:spcBef>
                <a:spcPts val="1150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knowledge</a:t>
            </a:r>
            <a:r>
              <a:rPr dirty="0" sz="1150" spc="43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foundation</a:t>
            </a:r>
            <a:r>
              <a:rPr dirty="0" sz="1150" spc="4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4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Knowledge</a:t>
            </a:r>
            <a:r>
              <a:rPr dirty="0" sz="1150" spc="43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Base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(TKB-600),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massive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curated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collection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verified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facts.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dataset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ensures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provides </a:t>
            </a:r>
            <a:r>
              <a:rPr dirty="0" sz="1150">
                <a:latin typeface="Times New Roman"/>
                <a:cs typeface="Times New Roman"/>
              </a:rPr>
              <a:t>expert-level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answers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without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hallucinations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typical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non-RAG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based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AI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models.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buAutoNum type="arabicPeriod" startAt="2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Dataset</a:t>
            </a:r>
            <a:r>
              <a:rPr dirty="0" sz="1150" spc="9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Specifications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41857" y="2538729"/>
          <a:ext cx="6028055" cy="1004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3705"/>
                <a:gridCol w="2973705"/>
              </a:tblGrid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TKB-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(Technical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Base)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Source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Domain-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Synthesis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Engine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1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latin typeface="Times New Roman"/>
                          <a:cs typeface="Times New Roman"/>
                        </a:rPr>
                        <a:t>Record</a:t>
                      </a:r>
                      <a:r>
                        <a:rPr dirty="0" sz="1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Count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600,836 Verified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Q&amp;A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Pairs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Structure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(MySQL)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Vector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(FAISS)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Coverage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AI,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Learning,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Networking,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OS,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Cloud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Length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Question: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Answer: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45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words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02309" y="3870705"/>
            <a:ext cx="5969635" cy="172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5.3</a:t>
            </a:r>
            <a:r>
              <a:rPr dirty="0" sz="1150" spc="7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Feature</a:t>
            </a:r>
            <a:r>
              <a:rPr dirty="0" sz="1150" spc="11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Engineering</a:t>
            </a:r>
            <a:endParaRPr sz="11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14799"/>
              </a:lnSpc>
              <a:spcBef>
                <a:spcPts val="1155"/>
              </a:spcBef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4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Inquiry</a:t>
            </a:r>
            <a:r>
              <a:rPr dirty="0" sz="1150" spc="13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(Query):</a:t>
            </a:r>
            <a:r>
              <a:rPr dirty="0" sz="1150" spc="16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Structured</a:t>
            </a:r>
            <a:r>
              <a:rPr dirty="0" sz="1150" spc="15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natural</a:t>
            </a:r>
            <a:r>
              <a:rPr dirty="0" sz="1150" spc="14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language</a:t>
            </a:r>
            <a:r>
              <a:rPr dirty="0" sz="1150" spc="15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strings</a:t>
            </a:r>
            <a:r>
              <a:rPr dirty="0" sz="1150" spc="14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optimized</a:t>
            </a:r>
            <a:r>
              <a:rPr dirty="0" sz="1150" spc="15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14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TF-</a:t>
            </a:r>
            <a:r>
              <a:rPr dirty="0" sz="1150" spc="-25">
                <a:latin typeface="Times New Roman"/>
                <a:cs typeface="Times New Roman"/>
              </a:rPr>
              <a:t>IDF </a:t>
            </a:r>
            <a:r>
              <a:rPr dirty="0" sz="1150" spc="-10">
                <a:latin typeface="Times New Roman"/>
                <a:cs typeface="Times New Roman"/>
              </a:rPr>
              <a:t>vectorization.</a:t>
            </a:r>
            <a:endParaRPr sz="115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SzPct val="95652"/>
              <a:buFont typeface="Symbol"/>
              <a:buChar char=""/>
              <a:tabLst>
                <a:tab pos="240665" algn="l"/>
              </a:tabLst>
            </a:pPr>
            <a:r>
              <a:rPr dirty="0" sz="1150">
                <a:latin typeface="Times New Roman"/>
                <a:cs typeface="Times New Roman"/>
              </a:rPr>
              <a:t>Domain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Label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(Tag):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Metadata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logical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partitioning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retrieval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accuracy.</a:t>
            </a:r>
            <a:endParaRPr sz="1150">
              <a:latin typeface="Times New Roman"/>
              <a:cs typeface="Times New Roman"/>
            </a:endParaRPr>
          </a:p>
          <a:p>
            <a:pPr marL="241300" marR="8890" indent="-228600">
              <a:lnSpc>
                <a:spcPct val="114799"/>
              </a:lnSpc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Embeddings: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High-dimensional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vector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representations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stored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FAISS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index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similarity calculation.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5.4</a:t>
            </a:r>
            <a:r>
              <a:rPr dirty="0" sz="1150" spc="8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Sample</a:t>
            </a:r>
            <a:r>
              <a:rPr dirty="0" sz="1150" spc="8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Data</a:t>
            </a:r>
            <a:r>
              <a:rPr dirty="0" sz="1150" spc="8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Reference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41857" y="5758941"/>
          <a:ext cx="6028055" cy="115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0564"/>
                <a:gridCol w="1985010"/>
                <a:gridCol w="1979929"/>
              </a:tblGrid>
              <a:tr h="16446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Domain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Inquiry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413384">
                        <a:lnSpc>
                          <a:spcPts val="11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Contextual</a:t>
                      </a:r>
                      <a:r>
                        <a:rPr dirty="0" sz="1100" spc="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Answer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Search.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8001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Fundamental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state-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exploration.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70485">
                        <a:lnSpc>
                          <a:spcPts val="124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What is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Overfitting?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742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scenario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signal.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70485">
                        <a:lnSpc>
                          <a:spcPts val="124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4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DNS.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36385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translates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hostnames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IPs.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5965825" cy="445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dirty="0" sz="1400" spc="-6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ARCHITECTURE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High-Level</a:t>
            </a:r>
            <a:r>
              <a:rPr dirty="0" sz="1150" spc="20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Architecture</a:t>
            </a:r>
            <a:endParaRPr sz="1150">
              <a:latin typeface="Times New Roman"/>
              <a:cs typeface="Times New Roman"/>
            </a:endParaRPr>
          </a:p>
          <a:p>
            <a:pPr algn="just" marL="12700" marR="7620">
              <a:lnSpc>
                <a:spcPct val="114799"/>
              </a:lnSpc>
              <a:spcBef>
                <a:spcPts val="1150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architecture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designed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scalability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low-latency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interaction.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It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utilizes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separated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Client-Server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model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where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React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frontend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communicates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via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RESTful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APIs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FastAPI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backend.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backend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manages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RAG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pipeline,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interfacing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directly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FAISS </a:t>
            </a:r>
            <a:r>
              <a:rPr dirty="0" sz="1150">
                <a:latin typeface="Times New Roman"/>
                <a:cs typeface="Times New Roman"/>
              </a:rPr>
              <a:t>vector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index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Ollama-based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Llama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3.2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inference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engine.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Processing</a:t>
            </a:r>
            <a:r>
              <a:rPr dirty="0" sz="1150" spc="16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Pipeline</a:t>
            </a:r>
            <a:endParaRPr sz="115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1320"/>
              </a:spcBef>
              <a:buSzPct val="95652"/>
              <a:buFont typeface="Symbol"/>
              <a:buChar char=""/>
              <a:tabLst>
                <a:tab pos="240665" algn="l"/>
              </a:tabLst>
            </a:pPr>
            <a:r>
              <a:rPr dirty="0" sz="1150">
                <a:latin typeface="Times New Roman"/>
                <a:cs typeface="Times New Roman"/>
              </a:rPr>
              <a:t>Query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Normalization: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Cleaning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inputs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remove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linguistic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noise.</a:t>
            </a:r>
            <a:endParaRPr sz="1150">
              <a:latin typeface="Times New Roman"/>
              <a:cs typeface="Times New Roman"/>
            </a:endParaRPr>
          </a:p>
          <a:p>
            <a:pPr lvl="2" marL="241300" marR="10160" indent="-228600">
              <a:lnSpc>
                <a:spcPct val="114799"/>
              </a:lnSpc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Vector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Retrieval: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Identifying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top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semantic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matches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600,000+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records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via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Cosine Similarity.</a:t>
            </a:r>
            <a:endParaRPr sz="115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204"/>
              </a:spcBef>
              <a:buSzPct val="95652"/>
              <a:buFont typeface="Symbol"/>
              <a:buChar char=""/>
              <a:tabLst>
                <a:tab pos="240665" algn="l"/>
              </a:tabLst>
            </a:pPr>
            <a:r>
              <a:rPr dirty="0" sz="1150">
                <a:latin typeface="Times New Roman"/>
                <a:cs typeface="Times New Roman"/>
              </a:rPr>
              <a:t>Prompt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Augmentation: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Injecting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retrieved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context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into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LLM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context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window.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6.3</a:t>
            </a:r>
            <a:r>
              <a:rPr dirty="0" sz="1150" spc="11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RAG</a:t>
            </a:r>
            <a:r>
              <a:rPr dirty="0" sz="1150" spc="5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Inference</a:t>
            </a:r>
            <a:r>
              <a:rPr dirty="0" sz="1150" spc="10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Engine</a:t>
            </a:r>
            <a:endParaRPr sz="1150">
              <a:latin typeface="Times New Roman"/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162560" algn="l"/>
              </a:tabLst>
            </a:pP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Query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[Pre-processor]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[TF-IDF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Vectorizer]</a:t>
            </a:r>
            <a:endParaRPr sz="1150">
              <a:latin typeface="Times New Roman"/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162560" algn="l"/>
              </a:tabLst>
            </a:pPr>
            <a:r>
              <a:rPr dirty="0" sz="1150">
                <a:latin typeface="Times New Roman"/>
                <a:cs typeface="Times New Roman"/>
              </a:rPr>
              <a:t>[Vector]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[FAISS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Similarity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Search]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[Context</a:t>
            </a:r>
            <a:r>
              <a:rPr dirty="0" sz="1150" spc="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Snippets]</a:t>
            </a:r>
            <a:endParaRPr sz="1150">
              <a:latin typeface="Times New Roman"/>
              <a:cs typeface="Times New Roman"/>
            </a:endParaRPr>
          </a:p>
          <a:p>
            <a:pPr marL="162560" indent="-14986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162560" algn="l"/>
              </a:tabLst>
            </a:pPr>
            <a:r>
              <a:rPr dirty="0" sz="1150">
                <a:latin typeface="Times New Roman"/>
                <a:cs typeface="Times New Roman"/>
              </a:rPr>
              <a:t>[Context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+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Query]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35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[Llama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3.2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LLM]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Times New Roman"/>
                <a:cs typeface="Times New Roman"/>
              </a:rPr>
              <a:t>-</a:t>
            </a:r>
            <a:r>
              <a:rPr dirty="0" sz="1150">
                <a:latin typeface="Times New Roman"/>
                <a:cs typeface="Times New Roman"/>
              </a:rPr>
              <a:t>&gt;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[Refined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Response]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14900"/>
              </a:lnSpc>
              <a:spcBef>
                <a:spcPts val="180"/>
              </a:spcBef>
            </a:pP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hybrid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approach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ensures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large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language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model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only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operates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within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bounds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verified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documentation,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preventing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false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positives.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3003550" cy="600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194310" algn="l"/>
              </a:tabLst>
            </a:pP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SCREENSHOTS</a:t>
            </a:r>
            <a:r>
              <a:rPr dirty="0" sz="1400" spc="-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OF THE</a:t>
            </a:r>
            <a:r>
              <a:rPr dirty="0" sz="1400" spc="-4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Login</a:t>
            </a:r>
            <a:r>
              <a:rPr dirty="0" sz="1150" spc="5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&amp;</a:t>
            </a:r>
            <a:r>
              <a:rPr dirty="0" sz="1150" spc="9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Security</a:t>
            </a:r>
            <a:r>
              <a:rPr dirty="0" sz="1150" spc="10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Interface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309" y="3707028"/>
            <a:ext cx="5615305" cy="755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Analysis: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login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portal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implements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secure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session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management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and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role-based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access </a:t>
            </a:r>
            <a:r>
              <a:rPr dirty="0" sz="1100" i="1">
                <a:latin typeface="Times New Roman"/>
                <a:cs typeface="Times New Roman"/>
              </a:rPr>
              <a:t>control.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It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serves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as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primary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entry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point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for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authorized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users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and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administrators.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7.2</a:t>
            </a:r>
            <a:r>
              <a:rPr dirty="0" sz="1150" spc="8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Real-time</a:t>
            </a:r>
            <a:r>
              <a:rPr dirty="0" sz="1150" spc="8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Chat</a:t>
            </a:r>
            <a:r>
              <a:rPr dirty="0" sz="1150" spc="11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Dashboard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309" y="6913524"/>
            <a:ext cx="583120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</a:pP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Analysis:</a:t>
            </a:r>
            <a:r>
              <a:rPr dirty="0" sz="1100" spc="-4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interactive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chat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interface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demonstrates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RAG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pipeline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in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action.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Below</a:t>
            </a:r>
            <a:r>
              <a:rPr dirty="0" sz="1100" spc="-50" i="1">
                <a:latin typeface="Times New Roman"/>
                <a:cs typeface="Times New Roman"/>
              </a:rPr>
              <a:t> </a:t>
            </a:r>
            <a:r>
              <a:rPr dirty="0" sz="1100" spc="-20" i="1">
                <a:latin typeface="Times New Roman"/>
                <a:cs typeface="Times New Roman"/>
              </a:rPr>
              <a:t>each </a:t>
            </a:r>
            <a:r>
              <a:rPr dirty="0" sz="1100" i="1">
                <a:latin typeface="Times New Roman"/>
                <a:cs typeface="Times New Roman"/>
              </a:rPr>
              <a:t>answer, it</a:t>
            </a:r>
            <a:r>
              <a:rPr dirty="0" sz="1100" spc="-5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provides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match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confidence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scores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and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source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domain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metadata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for</a:t>
            </a:r>
            <a:r>
              <a:rPr dirty="0" sz="1100" spc="-40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transparency.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427225"/>
            <a:ext cx="4572000" cy="21717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4626864"/>
            <a:ext cx="4572000" cy="2171191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64209"/>
            <a:ext cx="1647189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7.3</a:t>
            </a:r>
            <a:r>
              <a:rPr dirty="0" sz="1150" spc="9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Admin</a:t>
            </a:r>
            <a:r>
              <a:rPr dirty="0" sz="1150" spc="11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Control</a:t>
            </a:r>
            <a:r>
              <a:rPr dirty="0" sz="1150" spc="6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20" b="1">
                <a:solidFill>
                  <a:srgbClr val="336699"/>
                </a:solidFill>
                <a:latin typeface="Times New Roman"/>
                <a:cs typeface="Times New Roman"/>
              </a:rPr>
              <a:t>Panel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309" y="3327043"/>
            <a:ext cx="5565140" cy="746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Analysis: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Administrators</a:t>
            </a:r>
            <a:r>
              <a:rPr dirty="0" sz="1100" spc="-4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can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monitor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user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registration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trends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and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system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feedback.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-20" i="1">
                <a:latin typeface="Times New Roman"/>
                <a:cs typeface="Times New Roman"/>
              </a:rPr>
              <a:t>This </a:t>
            </a:r>
            <a:r>
              <a:rPr dirty="0" sz="1100" i="1">
                <a:latin typeface="Times New Roman"/>
                <a:cs typeface="Times New Roman"/>
              </a:rPr>
              <a:t>module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is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essential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for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maintaining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high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quality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of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knowledge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base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through</a:t>
            </a:r>
            <a:r>
              <a:rPr dirty="0" sz="1100" spc="-10" i="1">
                <a:latin typeface="Times New Roman"/>
                <a:cs typeface="Times New Roman"/>
              </a:rPr>
              <a:t> curation.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7.4</a:t>
            </a:r>
            <a:r>
              <a:rPr dirty="0" sz="1150" spc="114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System</a:t>
            </a:r>
            <a:r>
              <a:rPr dirty="0" sz="1150" spc="114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15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Analytics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309" y="6519824"/>
            <a:ext cx="5375910" cy="401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Analysis:</a:t>
            </a:r>
            <a:r>
              <a:rPr dirty="0" sz="1100" spc="-4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The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analytics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view</a:t>
            </a:r>
            <a:r>
              <a:rPr dirty="0" sz="1100" spc="-5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provides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real-time</a:t>
            </a:r>
            <a:r>
              <a:rPr dirty="0" sz="1100" spc="-1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insights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into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system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health,</a:t>
            </a:r>
            <a:r>
              <a:rPr dirty="0" sz="1100" spc="15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including </a:t>
            </a:r>
            <a:r>
              <a:rPr dirty="0" sz="1100" i="1">
                <a:latin typeface="Times New Roman"/>
                <a:cs typeface="Times New Roman"/>
              </a:rPr>
              <a:t>vocabulary</a:t>
            </a:r>
            <a:r>
              <a:rPr dirty="0" sz="1100" spc="-2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distribution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across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11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technical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domains</a:t>
            </a:r>
            <a:r>
              <a:rPr dirty="0" sz="1100" spc="-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and</a:t>
            </a:r>
            <a:r>
              <a:rPr dirty="0" sz="1100" spc="-5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average</a:t>
            </a:r>
            <a:r>
              <a:rPr dirty="0" sz="1100" spc="-3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retrieval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latency</a:t>
            </a:r>
            <a:r>
              <a:rPr dirty="0" sz="1100" spc="40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metrics.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039749"/>
            <a:ext cx="4572000" cy="21717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4238752"/>
            <a:ext cx="4572000" cy="21717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5955665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RESULTS</a:t>
            </a:r>
            <a:r>
              <a:rPr dirty="0" sz="1400" spc="-3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dirty="0" sz="1400" spc="-4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03366"/>
                </a:solidFill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14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Metrics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14900"/>
              </a:lnSpc>
              <a:spcBef>
                <a:spcPts val="1150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was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stress-tested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using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randomized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set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1,000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37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all </a:t>
            </a:r>
            <a:r>
              <a:rPr dirty="0" sz="1150">
                <a:latin typeface="Times New Roman"/>
                <a:cs typeface="Times New Roman"/>
              </a:rPr>
              <a:t>domains.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Average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metrics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summarized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quality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table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below.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41857" y="1934845"/>
          <a:ext cx="6028055" cy="83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3705"/>
                <a:gridCol w="2973705"/>
              </a:tblGrid>
              <a:tr h="164465">
                <a:tc>
                  <a:txBody>
                    <a:bodyPr/>
                    <a:lstStyle/>
                    <a:p>
                      <a:pPr marL="802640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1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Indicator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930275">
                        <a:lnSpc>
                          <a:spcPts val="1195"/>
                        </a:lnSpc>
                      </a:pP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dirty="0" sz="1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latin typeface="Times New Roman"/>
                          <a:cs typeface="Times New Roman"/>
                        </a:rPr>
                        <a:t>Result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Accuracy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94.2%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4465"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Avg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19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156ms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Match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Precision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91.8%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F1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91.5%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02309" y="3097783"/>
            <a:ext cx="5960745" cy="9569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8.2</a:t>
            </a:r>
            <a:r>
              <a:rPr dirty="0" sz="1150" spc="10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Accuracy</a:t>
            </a:r>
            <a:r>
              <a:rPr dirty="0" sz="1150" spc="105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Analysis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4799"/>
              </a:lnSpc>
              <a:spcBef>
                <a:spcPts val="1155"/>
              </a:spcBef>
            </a:pPr>
            <a:r>
              <a:rPr dirty="0" sz="1150">
                <a:latin typeface="Times New Roman"/>
                <a:cs typeface="Times New Roman"/>
              </a:rPr>
              <a:t>Confusion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matrix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analysis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domains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shows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minimal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overlap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between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specialized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topics </a:t>
            </a:r>
            <a:r>
              <a:rPr dirty="0" sz="1150">
                <a:latin typeface="Times New Roman"/>
                <a:cs typeface="Times New Roman"/>
              </a:rPr>
              <a:t>such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Networking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AI,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indicating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strong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feature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separation.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Accuracy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peaks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at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96.4%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 </a:t>
            </a:r>
            <a:r>
              <a:rPr dirty="0" sz="1150">
                <a:latin typeface="Times New Roman"/>
                <a:cs typeface="Times New Roman"/>
              </a:rPr>
              <a:t>Artificial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Intelligence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domain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due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high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density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specialized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terms.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309" y="659637"/>
            <a:ext cx="5970270" cy="4479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194310" algn="l"/>
              </a:tabLst>
            </a:pP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CONCLUSION</a:t>
            </a:r>
            <a:r>
              <a:rPr dirty="0" sz="1400" spc="-5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dirty="0" sz="1400" spc="-5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03366"/>
                </a:solidFill>
                <a:latin typeface="Times New Roman"/>
                <a:cs typeface="Times New Roman"/>
              </a:rPr>
              <a:t>FUTURE</a:t>
            </a:r>
            <a:r>
              <a:rPr dirty="0" sz="1400" spc="-7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003366"/>
                </a:solidFill>
                <a:latin typeface="Times New Roman"/>
                <a:cs typeface="Times New Roman"/>
              </a:rPr>
              <a:t>SCOPE</a:t>
            </a:r>
            <a:endParaRPr sz="140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Conclusion</a:t>
            </a:r>
            <a:r>
              <a:rPr dirty="0" sz="1150" spc="15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Summary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5199"/>
              </a:lnSpc>
              <a:spcBef>
                <a:spcPts val="1145"/>
              </a:spcBef>
            </a:pP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project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successfully</a:t>
            </a:r>
            <a:r>
              <a:rPr dirty="0" sz="1150" spc="4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demonstrates</a:t>
            </a:r>
            <a:r>
              <a:rPr dirty="0" sz="1150" spc="4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feasibility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4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efficiency</a:t>
            </a:r>
            <a:r>
              <a:rPr dirty="0" sz="1150" spc="4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40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high-</a:t>
            </a:r>
            <a:r>
              <a:rPr dirty="0" sz="1150" spc="-10">
                <a:latin typeface="Times New Roman"/>
                <a:cs typeface="Times New Roman"/>
              </a:rPr>
              <a:t>performance </a:t>
            </a:r>
            <a:r>
              <a:rPr dirty="0" sz="1150">
                <a:latin typeface="Times New Roman"/>
                <a:cs typeface="Times New Roman"/>
              </a:rPr>
              <a:t>RAG-based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Answering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system.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integrating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advanced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vector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similarity </a:t>
            </a:r>
            <a:r>
              <a:rPr dirty="0" sz="1150">
                <a:latin typeface="Times New Roman"/>
                <a:cs typeface="Times New Roman"/>
              </a:rPr>
              <a:t>search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(FAISS)</a:t>
            </a:r>
            <a:r>
              <a:rPr dirty="0" sz="1150" spc="4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high-capacity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language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models</a:t>
            </a:r>
            <a:r>
              <a:rPr dirty="0" sz="1150" spc="3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(Llama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3.2),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have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bridged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gap </a:t>
            </a:r>
            <a:r>
              <a:rPr dirty="0" sz="1150">
                <a:latin typeface="Times New Roman"/>
                <a:cs typeface="Times New Roman"/>
              </a:rPr>
              <a:t>between</a:t>
            </a:r>
            <a:r>
              <a:rPr dirty="0" sz="1150" spc="16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static</a:t>
            </a:r>
            <a:r>
              <a:rPr dirty="0" sz="1150" spc="16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documentation</a:t>
            </a:r>
            <a:r>
              <a:rPr dirty="0" sz="1150" spc="14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4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interactive</a:t>
            </a:r>
            <a:r>
              <a:rPr dirty="0" sz="1150" spc="14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7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support.</a:t>
            </a:r>
            <a:r>
              <a:rPr dirty="0" sz="1150" spc="15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6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145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successfully </a:t>
            </a:r>
            <a:r>
              <a:rPr dirty="0" sz="1150">
                <a:latin typeface="Times New Roman"/>
                <a:cs typeface="Times New Roman"/>
              </a:rPr>
              <a:t>classifies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retrieves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accurate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technical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data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massive</a:t>
            </a:r>
            <a:r>
              <a:rPr dirty="0" sz="1150" spc="1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600,000+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record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knowledge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base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48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professional</a:t>
            </a:r>
            <a:r>
              <a:rPr dirty="0" sz="1150" spc="45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accuracy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4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sub-millisecond</a:t>
            </a:r>
            <a:r>
              <a:rPr dirty="0" sz="1150" spc="48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scaling.</a:t>
            </a:r>
            <a:r>
              <a:rPr dirty="0" sz="1150" spc="4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4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professionally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designed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React </a:t>
            </a:r>
            <a:r>
              <a:rPr dirty="0" sz="1150">
                <a:latin typeface="Times New Roman"/>
                <a:cs typeface="Times New Roman"/>
              </a:rPr>
              <a:t>frontend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ensures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backend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complexity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delivered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through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intuitive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responsive </a:t>
            </a: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experience.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240029" indent="-227329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40029" algn="l"/>
              </a:tabLst>
            </a:pPr>
            <a:r>
              <a:rPr dirty="0" sz="1150" b="1">
                <a:solidFill>
                  <a:srgbClr val="336699"/>
                </a:solidFill>
                <a:latin typeface="Times New Roman"/>
                <a:cs typeface="Times New Roman"/>
              </a:rPr>
              <a:t>Future</a:t>
            </a:r>
            <a:r>
              <a:rPr dirty="0" sz="1150" spc="100" b="1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336699"/>
                </a:solidFill>
                <a:latin typeface="Times New Roman"/>
                <a:cs typeface="Times New Roman"/>
              </a:rPr>
              <a:t>Roadmap</a:t>
            </a:r>
            <a:endParaRPr sz="1150">
              <a:latin typeface="Times New Roman"/>
              <a:cs typeface="Times New Roman"/>
            </a:endParaRPr>
          </a:p>
          <a:p>
            <a:pPr lvl="2" marL="241300" marR="8890" indent="-228600">
              <a:lnSpc>
                <a:spcPct val="114799"/>
              </a:lnSpc>
              <a:spcBef>
                <a:spcPts val="1150"/>
              </a:spcBef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Multi-modal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Interaction: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Integrating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voice-to-query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support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allowing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users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ask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questions </a:t>
            </a:r>
            <a:r>
              <a:rPr dirty="0" sz="1150">
                <a:latin typeface="Times New Roman"/>
                <a:cs typeface="Times New Roman"/>
              </a:rPr>
              <a:t>verbally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improved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accessibility.</a:t>
            </a:r>
            <a:endParaRPr sz="1150">
              <a:latin typeface="Times New Roman"/>
              <a:cs typeface="Times New Roman"/>
            </a:endParaRPr>
          </a:p>
          <a:p>
            <a:pPr lvl="2" marL="241300" marR="5080" indent="-228600">
              <a:lnSpc>
                <a:spcPts val="1590"/>
              </a:lnSpc>
              <a:spcBef>
                <a:spcPts val="85"/>
              </a:spcBef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Contextual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Fine-tuning: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Fine-tuning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localized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LLM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variants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specialized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sub-domains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like </a:t>
            </a:r>
            <a:r>
              <a:rPr dirty="0" sz="1150">
                <a:latin typeface="Times New Roman"/>
                <a:cs typeface="Times New Roman"/>
              </a:rPr>
              <a:t>hardware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engineering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quantum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computing.</a:t>
            </a:r>
            <a:endParaRPr sz="115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110"/>
              </a:spcBef>
              <a:buSzPct val="95652"/>
              <a:buFont typeface="Symbol"/>
              <a:buChar char=""/>
              <a:tabLst>
                <a:tab pos="240665" algn="l"/>
              </a:tabLst>
            </a:pPr>
            <a:r>
              <a:rPr dirty="0" sz="1150">
                <a:latin typeface="Times New Roman"/>
                <a:cs typeface="Times New Roman"/>
              </a:rPr>
              <a:t>IDE</a:t>
            </a:r>
            <a:r>
              <a:rPr dirty="0" sz="1150" spc="22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Integration:</a:t>
            </a:r>
            <a:r>
              <a:rPr dirty="0" sz="1150" spc="22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Developing</a:t>
            </a:r>
            <a:r>
              <a:rPr dirty="0" sz="1150" spc="23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VS</a:t>
            </a:r>
            <a:r>
              <a:rPr dirty="0" sz="1150" spc="21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Code</a:t>
            </a:r>
            <a:r>
              <a:rPr dirty="0" sz="1150" spc="229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extensions</a:t>
            </a:r>
            <a:r>
              <a:rPr dirty="0" sz="1150" spc="204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15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provide</a:t>
            </a:r>
            <a:r>
              <a:rPr dirty="0" sz="1150" spc="21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real-time</a:t>
            </a:r>
            <a:r>
              <a:rPr dirty="0" sz="1150" spc="21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RAG-</a:t>
            </a:r>
            <a:r>
              <a:rPr dirty="0" sz="1150" spc="-10">
                <a:latin typeface="Times New Roman"/>
                <a:cs typeface="Times New Roman"/>
              </a:rPr>
              <a:t>based</a:t>
            </a:r>
            <a:endParaRPr sz="11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04"/>
              </a:spcBef>
            </a:pPr>
            <a:r>
              <a:rPr dirty="0" sz="1150">
                <a:latin typeface="Times New Roman"/>
                <a:cs typeface="Times New Roman"/>
              </a:rPr>
              <a:t>documentation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support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directly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within</a:t>
            </a:r>
            <a:r>
              <a:rPr dirty="0" sz="1150" spc="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developer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workspace.</a:t>
            </a:r>
            <a:endParaRPr sz="1150">
              <a:latin typeface="Times New Roman"/>
              <a:cs typeface="Times New Roman"/>
            </a:endParaRPr>
          </a:p>
          <a:p>
            <a:pPr lvl="2" marL="241300" marR="8890" indent="-228600">
              <a:lnSpc>
                <a:spcPct val="114799"/>
              </a:lnSpc>
              <a:spcBef>
                <a:spcPts val="5"/>
              </a:spcBef>
              <a:buSzPct val="95652"/>
              <a:buFont typeface="Symbol"/>
              <a:buChar char=""/>
              <a:tabLst>
                <a:tab pos="241300" algn="l"/>
              </a:tabLst>
            </a:pPr>
            <a:r>
              <a:rPr dirty="0" sz="1150">
                <a:latin typeface="Times New Roman"/>
                <a:cs typeface="Times New Roman"/>
              </a:rPr>
              <a:t>Self-Learning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Index: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Implementing</a:t>
            </a:r>
            <a:r>
              <a:rPr dirty="0" sz="1150" spc="1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feedback-driven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reinforcement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loop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where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ratings </a:t>
            </a:r>
            <a:r>
              <a:rPr dirty="0" sz="1150">
                <a:latin typeface="Times New Roman"/>
                <a:cs typeface="Times New Roman"/>
              </a:rPr>
              <a:t>refine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embedding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index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over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time.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2056" y="301700"/>
            <a:ext cx="7173595" cy="9459595"/>
          </a:xfrm>
          <a:custGeom>
            <a:avLst/>
            <a:gdLst/>
            <a:ahLst/>
            <a:cxnLst/>
            <a:rect l="l" t="t" r="r" b="b"/>
            <a:pathLst>
              <a:path w="7173595" h="9459595">
                <a:moveTo>
                  <a:pt x="7173150" y="0"/>
                </a:moveTo>
                <a:lnTo>
                  <a:pt x="7154926" y="0"/>
                </a:lnTo>
                <a:lnTo>
                  <a:pt x="7154875" y="18592"/>
                </a:lnTo>
                <a:lnTo>
                  <a:pt x="7154875" y="9441231"/>
                </a:lnTo>
                <a:lnTo>
                  <a:pt x="18288" y="9441231"/>
                </a:lnTo>
                <a:lnTo>
                  <a:pt x="18288" y="18592"/>
                </a:lnTo>
                <a:lnTo>
                  <a:pt x="7154875" y="18592"/>
                </a:lnTo>
                <a:lnTo>
                  <a:pt x="7154875" y="0"/>
                </a:lnTo>
                <a:lnTo>
                  <a:pt x="18288" y="0"/>
                </a:lnTo>
                <a:lnTo>
                  <a:pt x="0" y="0"/>
                </a:lnTo>
                <a:lnTo>
                  <a:pt x="0" y="18592"/>
                </a:lnTo>
                <a:lnTo>
                  <a:pt x="0" y="9441231"/>
                </a:lnTo>
                <a:lnTo>
                  <a:pt x="0" y="9459519"/>
                </a:lnTo>
                <a:lnTo>
                  <a:pt x="18288" y="9459519"/>
                </a:lnTo>
                <a:lnTo>
                  <a:pt x="7154875" y="9459519"/>
                </a:lnTo>
                <a:lnTo>
                  <a:pt x="7173150" y="9459519"/>
                </a:lnTo>
                <a:lnTo>
                  <a:pt x="7173150" y="9441231"/>
                </a:lnTo>
                <a:lnTo>
                  <a:pt x="7173150" y="18592"/>
                </a:lnTo>
                <a:lnTo>
                  <a:pt x="7173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terms:created xsi:type="dcterms:W3CDTF">2026-04-07T15:25:35Z</dcterms:created>
  <dcterms:modified xsi:type="dcterms:W3CDTF">2026-04-07T15:25:35Z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2026-04-05T00:00:00Z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2026-04-07T00:00:00Z</vt:filetime>
  </property>
  <property fmtid="{D5CDD505-2E9C-101B-9397-08002B2CF9AE}" pid="5" name="Producer">
    <vt:lpwstr>www.ilovepdf.com</vt:lpwstr>
  </property>
</Properties>
</file>